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</Types>
</file>

<file path=_rels/.rels><?xml version="1.0" encoding="UTF-8"?>
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3" Type="http://schemas.openxmlformats.org/officeDocument/2006/relationships/custom-properties" Target="docProps/custom.xml"/><Relationship Id="rId4" Type="http://schemas.openxmlformats.org/officeDocument/2006/relationships/officeDocument" Target="ppt/presentation.xml"/>
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sldMasterIdLst>
    <p:sldMasterId id="2147483648" r:id="rId2"/>
  </p:sldMasterIdLst>
  <p:notesMasterIdLst>
    <p:notesMasterId r:id="rId3"/>
  </p:notesMasterIdLst>
  <p:sldIdLst>
    <p:sldId id="256" r:id="rId4"/>
  </p:sldIdLst>
  <p:sldSz cx="12192000" cy="6858000"/>
  <p:notesSz cx="6858000" cy="12192000"/>
</p:presentation>
</file>

<file path=ppt/presProps.xml><?xml version="1.0" encoding="utf-8"?>
<p:presentationPr xmlns:a="http://schemas.openxmlformats.org/drawingml/2006/main" xmlns:p="http://schemas.openxmlformats.org/presentationml/2006/main" xmlns:r="http://schemas.openxmlformats.org/officeDocument/2006/relationships">
  <p:showPr showNarration="1"/>
</p:presentationPr>
</file>

<file path=ppt/_rels/presentation.xml.rels><?xml version="1.0" encoding="UTF-8"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slideMaster" Target="slideMasters/slideMaster1.xml"/><Relationship Id="rId3" Type="http://schemas.openxmlformats.org/officeDocument/2006/relationships/notesMaster" Target="notesMasters/notesMaster1.xml"/><Relationship Id="rId4" Type="http://schemas.openxmlformats.org/officeDocument/2006/relationships/slide" Target="slides/slide1.xml"/><Relationship Id="rId5" Type="http://schemas.openxmlformats.org/officeDocument/2006/relationships/presProps" Target="presProps.xml"/>
</Relationships>
</file>

<file path=ppt/notesMasters/_rels/notesMaster1.xml.rels><?xml version="1.0" encoding="UTF-8"?>
<Relationships xmlns="http://schemas.openxmlformats.org/package/2006/relationships"><Relationship Id="rId1" Type="http://schemas.openxmlformats.org/officeDocument/2006/relationships/theme" Target="../theme/theme2.xml"/>
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sldImg"/>
          </p:nvPr>
        </p:nvSpPr>
        <p:spPr>
          <a:xfrm>
            <a:off x="216000" y="812520"/>
            <a:ext cx="7127280" cy="4008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p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Click to move the slide</a:t>
            </a:r>
            <a:endParaRPr lang="en-US" sz="18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body"/>
          </p:nvPr>
        </p:nvSpPr>
        <p:spPr>
          <a:xfrm>
            <a:off x="756000" y="5078520"/>
            <a:ext cx="6047640" cy="48110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notes format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hdr"/>
          </p:nvPr>
        </p:nvSpPr>
        <p:spPr>
          <a:xfrm>
            <a:off x="0" y="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p>
            <a:pPr indent="0" algn="l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&lt;header&gt;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dt" idx="1"/>
          </p:nvPr>
        </p:nvSpPr>
        <p:spPr>
          <a:xfrm>
            <a:off x="4278960" y="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indent="0" algn="r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&lt;date/time&gt;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2"/>
          </p:nvPr>
        </p:nvSpPr>
        <p:spPr>
          <a:xfrm>
            <a:off x="0" y="1015740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b">
            <a:noAutofit/>
          </a:bodyPr>
          <a:lstStyle>
            <a:lvl1pPr indent="0" algn="l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l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7" name="PlaceHolder 6"/>
          <p:cNvSpPr>
            <a:spLocks noGrp="1"/>
          </p:cNvSpPr>
          <p:nvPr>
            <p:ph type="sldNum" idx="3"/>
          </p:nvPr>
        </p:nvSpPr>
        <p:spPr>
          <a:xfrm>
            <a:off x="4278960" y="1015740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b">
            <a:noAutofit/>
          </a:bodyPr>
          <a:lstStyle>
            <a:lvl1pPr indent="0" algn="r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buNone/>
            </a:pPr>
            <a:fld id="{58852946-CE94-4AC4-8EDA-87737769D9FD}" type="slidenum"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&lt;number&gt;</a:t>
            </a:fld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</p:notesMaster>
</file>

<file path=ppt/notesSlides/_rels/notesSlide1.xml.rels><?xml version="1.0" encoding="UTF-8"?>
<Relationships xmlns="http://schemas.openxmlformats.org/package/2006/relationships"><Relationship Id="rId1" Type="http://schemas.openxmlformats.org/officeDocument/2006/relationships/slide" Target="../slides/slide1.xml"/><Relationship Id="rId2" Type="http://schemas.openxmlformats.org/officeDocument/2006/relationships/notesMaster" Target="../notesMasters/notesMaster1.xml"/>
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34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5" name="PlaceHolder 3"/>
          <p:cNvSpPr>
            <a:spLocks noGrp="1"/>
          </p:cNvSpPr>
          <p:nvPr>
            <p:ph type="sldNum" idx="4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>
            <a:lvl1pPr indent="0" algn="l" defTabSz="914400">
              <a:lnSpc>
                <a:spcPct val="100000"/>
              </a:lnSpc>
              <a:buNone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</a:pPr>
            <a:fld id="{89D67786-E1A0-4DAA-A8C2-0004D6616DC9}" type="slidenum">
              <a: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&lt;number&gt;</a:t>
            </a:fld>
            <a:endParaRPr lang="en-US" sz="18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slideLayouts/_rels/slideLayout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slideLayout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DEFAU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</p:sldLayout>
</file>

<file path=ppt/slideMasters/_rels/slideMaster1.xml.rels><?xml version="1.0" encoding="UTF-8"?>
<Relationships xmlns="http://schemas.openxmlformats.org/package/2006/relationships"><Relationship Id="rId1" Type="http://schemas.openxmlformats.org/officeDocument/2006/relationships/theme" Target="../theme/theme1.xml"/><Relationship Id="rId2" Type="http://schemas.openxmlformats.org/officeDocument/2006/relationships/slideLayout" Target="../slideLayouts/slideLayout1.xml"/>
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2"/>
  </p:sldLayoutIdLst>
</p:sldMaster>
</file>

<file path=ppt/slides/_rels/slide1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image" Target="../media/image2.png"/><Relationship Id="rId3" Type="http://schemas.openxmlformats.org/officeDocument/2006/relationships/image" Target="../media/image3.png"/><Relationship Id="rId4" Type="http://schemas.openxmlformats.org/officeDocument/2006/relationships/image" Target="../media/image4.png"/><Relationship Id="rId5" Type="http://schemas.openxmlformats.org/officeDocument/2006/relationships/image" Target="../media/image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1.xml"/>
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40"/>
          <p:cNvPicPr/>
          <p:nvPr/>
        </p:nvPicPr>
        <p:blipFill>
          <a:blip r:embed="rId1"/>
          <a:stretch/>
        </p:blipFill>
        <p:spPr>
          <a:xfrm>
            <a:off x="3010680" y="1119240"/>
            <a:ext cx="5864760" cy="439056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9" name="Shape 0"/>
          <p:cNvSpPr/>
          <p:nvPr/>
        </p:nvSpPr>
        <p:spPr>
          <a:xfrm>
            <a:off x="0" y="0"/>
            <a:ext cx="12191400" cy="804240"/>
          </a:xfrm>
          <a:prstGeom prst="rect">
            <a:avLst/>
          </a:prstGeom>
          <a:solidFill>
            <a:srgbClr val="13294B"/>
          </a:solidFill>
          <a:ln w="12700">
            <a:solidFill>
              <a:srgbClr val="13294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</p:txBody>
      </p:sp>
      <p:sp>
        <p:nvSpPr>
          <p:cNvPr id="10" name="Text 1"/>
          <p:cNvSpPr/>
          <p:nvPr/>
        </p:nvSpPr>
        <p:spPr>
          <a:xfrm>
            <a:off x="420480" y="146160"/>
            <a:ext cx="7543440" cy="292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</a:pPr>
            <a:r>
              <a:rPr lang="en-US" sz="2400" b="1" u="none" strike="noStrike">
                <a:solidFill>
                  <a:srgbClr val="FFFFFF"/>
                </a:solidFill>
                <a:effectLst/>
                <a:uFillTx/>
                <a:latin typeface="Aptos Display"/>
                <a:ea typeface="Aptos Display"/>
              </a:rPr>
              <a:t>[</a:t>
            </a:r>
            <a:r>
              <a:rPr lang="en-GB" sz="2400" b="0" u="none" strike="noStrike">
                <a:solidFill>
                  <a:schemeClr val="lt1">
                    <a:lumMod val="85000"/>
                  </a:schemeClr>
                </a:solidFill>
                <a:effectLst/>
                <a:uFillTx/>
                <a:latin typeface="Aptos"/>
                <a:ea typeface="Aptos Display"/>
              </a:rPr>
              <a:t>Smart Drinks Dispenser</a:t>
            </a:r>
            <a:r>
              <a:rPr lang="en-US" sz="2400" b="1" u="none" strike="noStrike">
                <a:solidFill>
                  <a:srgbClr val="FFFFFF"/>
                </a:solidFill>
                <a:effectLst/>
                <a:uFillTx/>
                <a:latin typeface="Aptos Display"/>
                <a:ea typeface="Aptos Display"/>
              </a:rPr>
              <a:t>]</a:t>
            </a: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" name="Text 2"/>
          <p:cNvSpPr/>
          <p:nvPr/>
        </p:nvSpPr>
        <p:spPr>
          <a:xfrm>
            <a:off x="438840" y="475560"/>
            <a:ext cx="7772040" cy="200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50" b="0" u="none" strike="noStrike">
                <a:solidFill>
                  <a:schemeClr val="lt1"/>
                </a:solidFill>
                <a:effectLst/>
                <a:uFillTx/>
                <a:latin typeface="Aptos"/>
              </a:rPr>
              <a:t>[</a:t>
            </a:r>
            <a:r>
              <a:rPr lang="en-US" sz="1050" b="0" u="none" strike="noStrike">
                <a:solidFill>
                  <a:srgbClr val="D7E4FF"/>
                </a:solidFill>
                <a:effectLst/>
                <a:uFillTx/>
                <a:latin typeface="Aptos"/>
              </a:rPr>
              <a:t>DrFresh</a:t>
            </a:r>
            <a:r>
              <a:rPr lang="en-US" sz="1050" b="0" u="none" strike="noStrike">
                <a:solidFill>
                  <a:schemeClr val="lt1"/>
                </a:solidFill>
                <a:effectLst/>
                <a:uFillTx/>
                <a:latin typeface="Aptos"/>
              </a:rPr>
              <a:t>]</a:t>
            </a:r>
            <a:r>
              <a:rPr lang="en-US" sz="1050" b="0" u="none" strike="noStrike">
                <a:solidFill>
                  <a:srgbClr val="D7E4FF"/>
                </a:solidFill>
                <a:effectLst/>
                <a:uFillTx/>
                <a:latin typeface="Aptos"/>
              </a:rPr>
              <a:t>  |  [</a:t>
            </a:r>
            <a:r>
              <a:rPr lang="el-GR" sz="1050" b="0" u="none" strike="noStrike">
                <a:solidFill>
                  <a:srgbClr val="D7E4FF"/>
                </a:solidFill>
                <a:effectLst/>
                <a:uFillTx/>
                <a:latin typeface="Aptos"/>
              </a:rPr>
              <a:t>Ούζας Βασίλειος, Αλίνο Παπαγιάννης</a:t>
            </a:r>
            <a:r>
              <a:rPr lang="en-US" sz="1050" b="0" u="none" strike="noStrike">
                <a:solidFill>
                  <a:srgbClr val="D7E4FF"/>
                </a:solidFill>
                <a:effectLst/>
                <a:uFillTx/>
                <a:latin typeface="Aptos"/>
              </a:rPr>
              <a:t>]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" name="Text 3"/>
          <p:cNvSpPr/>
          <p:nvPr/>
        </p:nvSpPr>
        <p:spPr>
          <a:xfrm>
            <a:off x="8275320" y="301680"/>
            <a:ext cx="3474360" cy="22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00" b="1" u="none" strike="noStrike">
                <a:solidFill>
                  <a:srgbClr val="D7E4FF"/>
                </a:solidFill>
                <a:effectLst/>
                <a:uFillTx/>
                <a:latin typeface="Aptos"/>
              </a:rPr>
              <a:t>ECE490 IoT &amp; Apps Workshop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" name="Shape 4"/>
          <p:cNvSpPr/>
          <p:nvPr/>
        </p:nvSpPr>
        <p:spPr>
          <a:xfrm>
            <a:off x="66240" y="1078920"/>
            <a:ext cx="2880000" cy="5303160"/>
          </a:xfrm>
          <a:prstGeom prst="roundRect">
            <a:avLst>
              <a:gd name="adj" fmla="val 1905"/>
            </a:avLst>
          </a:prstGeom>
          <a:solidFill>
            <a:srgbClr val="F6F8FB"/>
          </a:solidFill>
          <a:ln w="12700">
            <a:solidFill>
              <a:srgbClr val="CBD5E1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</p:txBody>
      </p:sp>
      <p:sp>
        <p:nvSpPr>
          <p:cNvPr id="14" name="Text 5"/>
          <p:cNvSpPr/>
          <p:nvPr/>
        </p:nvSpPr>
        <p:spPr>
          <a:xfrm>
            <a:off x="212760" y="1216080"/>
            <a:ext cx="2550960" cy="255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1" u="none" strike="noStrike">
                <a:solidFill>
                  <a:srgbClr val="13294B"/>
                </a:solidFill>
                <a:effectLst/>
                <a:uFillTx/>
                <a:latin typeface="Aptos"/>
              </a:rPr>
              <a:t>Problem / Use Case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" name="Text 6"/>
          <p:cNvSpPr/>
          <p:nvPr/>
        </p:nvSpPr>
        <p:spPr>
          <a:xfrm>
            <a:off x="262800" y="1673280"/>
            <a:ext cx="2404440" cy="2215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/>
          </a:bodyPr>
          <a:p>
            <a:pPr marL="171360" indent="-171360" defTabSz="914400">
              <a:lnSpc>
                <a:spcPct val="100000"/>
              </a:lnSpc>
              <a:buClr>
                <a:srgbClr val="000000"/>
              </a:buClr>
              <a:buFont typeface="Arial"/>
              <a:buChar char="•"/>
            </a:pPr>
            <a:r>
              <a:rPr lang="en-US" sz="112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We all hate that feeling when we are at the office and we visit the water cooler/dispenser at the office only to find it barely or completely empty.</a:t>
            </a:r>
            <a:endParaRPr lang="en-US" sz="112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endParaRPr lang="en-US" sz="112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1360" indent="-171360" defTabSz="914400">
              <a:lnSpc>
                <a:spcPct val="100000"/>
              </a:lnSpc>
              <a:buClr>
                <a:srgbClr val="000000"/>
              </a:buClr>
              <a:buFont typeface="Arial"/>
              <a:buChar char="•"/>
              <a:tabLst>
                <a:tab pos="0" algn="l"/>
              </a:tabLst>
            </a:pPr>
            <a:r>
              <a:rPr lang="en-US" sz="112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That’s why we at DrFresh came up with an iot system that help us monitor beverage dispensing, notifies in time when the reservoir levels are low and give us preference statistics </a:t>
            </a:r>
            <a:endParaRPr lang="en-US" sz="112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endParaRPr lang="en-US" sz="112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endParaRPr lang="en-US" sz="112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" name="Text 8"/>
          <p:cNvSpPr/>
          <p:nvPr/>
        </p:nvSpPr>
        <p:spPr>
          <a:xfrm>
            <a:off x="256320" y="3685320"/>
            <a:ext cx="2258280" cy="200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50" b="1" u="none" strike="noStrike">
                <a:solidFill>
                  <a:srgbClr val="2F6FED"/>
                </a:solidFill>
                <a:effectLst/>
                <a:uFillTx/>
                <a:latin typeface="Aptos"/>
              </a:rPr>
              <a:t>Key users / environment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" name="Text 9"/>
          <p:cNvSpPr/>
          <p:nvPr/>
        </p:nvSpPr>
        <p:spPr>
          <a:xfrm>
            <a:off x="228600" y="3888360"/>
            <a:ext cx="2258280" cy="347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/>
          </a:bodyPr>
          <a:p>
            <a:pPr defTabSz="914400">
              <a:lnSpc>
                <a:spcPct val="100000"/>
              </a:lnSpc>
            </a:pPr>
            <a:r>
              <a:rPr lang="en-US" sz="10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A perfect solution for work spaces, schools</a:t>
            </a:r>
            <a:r>
              <a:rPr lang="el-GR" sz="10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,</a:t>
            </a:r>
            <a:r>
              <a:rPr lang="en-US" sz="10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 offices</a:t>
            </a:r>
            <a:r>
              <a:rPr lang="el-GR" sz="10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 </a:t>
            </a:r>
            <a:r>
              <a:rPr lang="en-US" sz="10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and small businesses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" name="Text 11"/>
          <p:cNvSpPr/>
          <p:nvPr/>
        </p:nvSpPr>
        <p:spPr>
          <a:xfrm>
            <a:off x="3703320" y="831960"/>
            <a:ext cx="4672080" cy="255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1" u="none" strike="noStrike">
                <a:solidFill>
                  <a:srgbClr val="13294B"/>
                </a:solidFill>
                <a:effectLst/>
                <a:uFillTx/>
                <a:latin typeface="Aptos"/>
              </a:rPr>
              <a:t>System Architecture / Data Flow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" name="Shape 27"/>
          <p:cNvSpPr/>
          <p:nvPr/>
        </p:nvSpPr>
        <p:spPr>
          <a:xfrm>
            <a:off x="3753720" y="5632560"/>
            <a:ext cx="4434480" cy="749520"/>
          </a:xfrm>
          <a:prstGeom prst="roundRect">
            <a:avLst>
              <a:gd name="adj" fmla="val 7317"/>
            </a:avLst>
          </a:prstGeom>
          <a:solidFill>
            <a:srgbClr val="F6F8FB"/>
          </a:solidFill>
          <a:ln w="12700">
            <a:solidFill>
              <a:srgbClr val="CBD5E1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</p:txBody>
      </p:sp>
      <p:sp>
        <p:nvSpPr>
          <p:cNvPr id="20" name="Text 28"/>
          <p:cNvSpPr/>
          <p:nvPr/>
        </p:nvSpPr>
        <p:spPr>
          <a:xfrm>
            <a:off x="4005000" y="5671080"/>
            <a:ext cx="1462680" cy="18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50" b="1" u="none" strike="noStrike">
                <a:solidFill>
                  <a:srgbClr val="2F6FED"/>
                </a:solidFill>
                <a:effectLst/>
                <a:uFillTx/>
                <a:latin typeface="Aptos"/>
              </a:rPr>
              <a:t>Data path example</a:t>
            </a:r>
            <a:endParaRPr lang="en-US" sz="9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1" name="Text 29"/>
          <p:cNvSpPr/>
          <p:nvPr/>
        </p:nvSpPr>
        <p:spPr>
          <a:xfrm>
            <a:off x="3854520" y="5738760"/>
            <a:ext cx="4333320" cy="643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/>
          </a:bodyPr>
          <a:p>
            <a:pPr defTabSz="914400">
              <a:lnSpc>
                <a:spcPct val="100000"/>
              </a:lnSpc>
            </a:pPr>
            <a:r>
              <a:rPr lang="en-US" sz="950" b="0" u="none" strike="noStrike">
                <a:solidFill>
                  <a:srgbClr val="111827"/>
                </a:solidFill>
                <a:effectLst/>
                <a:uFillTx/>
                <a:latin typeface="Aptos"/>
              </a:rPr>
              <a:t>[Tank A volume drops below 0.3L] → [processing (on PI)] → [storage(InfluxDB)] → [notification on GUI/MQTT/GMAIL/Grafana visualization ] →[you can no longer dispense from A]</a:t>
            </a:r>
            <a:endParaRPr lang="en-US" sz="9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2" name="Shape 30"/>
          <p:cNvSpPr/>
          <p:nvPr/>
        </p:nvSpPr>
        <p:spPr>
          <a:xfrm>
            <a:off x="8942760" y="955800"/>
            <a:ext cx="3191040" cy="2358720"/>
          </a:xfrm>
          <a:prstGeom prst="roundRect">
            <a:avLst>
              <a:gd name="adj" fmla="val 2400"/>
            </a:avLst>
          </a:prstGeom>
          <a:solidFill>
            <a:srgbClr val="F6F8FB"/>
          </a:solidFill>
          <a:ln w="12700">
            <a:solidFill>
              <a:srgbClr val="CBD5E1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</p:txBody>
      </p:sp>
      <p:sp>
        <p:nvSpPr>
          <p:cNvPr id="23" name="Text 31"/>
          <p:cNvSpPr/>
          <p:nvPr/>
        </p:nvSpPr>
        <p:spPr>
          <a:xfrm>
            <a:off x="9107280" y="1102320"/>
            <a:ext cx="2861640" cy="255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1" u="none" strike="noStrike">
                <a:solidFill>
                  <a:srgbClr val="13294B"/>
                </a:solidFill>
                <a:effectLst/>
                <a:uFillTx/>
                <a:latin typeface="Aptos"/>
              </a:rPr>
              <a:t>Main Components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4" name="Text 32"/>
          <p:cNvSpPr/>
          <p:nvPr/>
        </p:nvSpPr>
        <p:spPr>
          <a:xfrm>
            <a:off x="9107280" y="1522800"/>
            <a:ext cx="2861640" cy="1425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40" b="0" u="none" strike="noStrike">
                <a:solidFill>
                  <a:srgbClr val="111827"/>
                </a:solidFill>
                <a:effectLst/>
                <a:uFillTx/>
                <a:latin typeface="Aptos"/>
              </a:rPr>
              <a:t>Hardware: [RPi / double 6-12V pumps / 5V active buzzer / 12V dual relay module]</a:t>
            </a:r>
            <a:endParaRPr lang="en-US" sz="104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endParaRPr lang="en-US" sz="104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40" b="0" u="none" strike="noStrike">
                <a:solidFill>
                  <a:srgbClr val="111827"/>
                </a:solidFill>
                <a:effectLst/>
                <a:uFillTx/>
                <a:latin typeface="Aptos"/>
              </a:rPr>
              <a:t>Software: [Python / HTML/ CSS/ JavaScript]</a:t>
            </a:r>
            <a:endParaRPr lang="en-US" sz="104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40" b="0" u="none" strike="noStrike">
                <a:solidFill>
                  <a:srgbClr val="111827"/>
                </a:solidFill>
                <a:effectLst/>
                <a:uFillTx/>
                <a:latin typeface="Aptos"/>
              </a:rPr>
              <a:t>Protocols: [MQTT / HTTP / NGSI-LD]</a:t>
            </a:r>
            <a:endParaRPr lang="en-US" sz="104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40" b="0" u="none" strike="noStrike">
                <a:solidFill>
                  <a:srgbClr val="111827"/>
                </a:solidFill>
                <a:effectLst/>
                <a:uFillTx/>
                <a:latin typeface="Aptos"/>
              </a:rPr>
              <a:t>Storage: [SQLite / InfluxDB]</a:t>
            </a:r>
            <a:endParaRPr lang="en-US" sz="104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5" name="Shape 33"/>
          <p:cNvSpPr/>
          <p:nvPr/>
        </p:nvSpPr>
        <p:spPr>
          <a:xfrm>
            <a:off x="8737920" y="3511080"/>
            <a:ext cx="3191040" cy="2669760"/>
          </a:xfrm>
          <a:prstGeom prst="roundRect">
            <a:avLst>
              <a:gd name="adj" fmla="val 2857"/>
            </a:avLst>
          </a:prstGeom>
          <a:solidFill>
            <a:srgbClr val="FFF9E8"/>
          </a:solidFill>
          <a:ln w="12700">
            <a:solidFill>
              <a:srgbClr val="CBD5E1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</p:txBody>
      </p:sp>
      <p:sp>
        <p:nvSpPr>
          <p:cNvPr id="26" name="Text 34"/>
          <p:cNvSpPr/>
          <p:nvPr/>
        </p:nvSpPr>
        <p:spPr>
          <a:xfrm>
            <a:off x="8942760" y="3712320"/>
            <a:ext cx="2861640" cy="255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1" u="none" strike="noStrike">
                <a:solidFill>
                  <a:srgbClr val="13294B"/>
                </a:solidFill>
                <a:effectLst/>
                <a:uFillTx/>
                <a:latin typeface="Aptos"/>
              </a:rPr>
              <a:t>Demo Scenario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7" name="Text 35"/>
          <p:cNvSpPr/>
          <p:nvPr/>
        </p:nvSpPr>
        <p:spPr>
          <a:xfrm>
            <a:off x="8942760" y="4123800"/>
            <a:ext cx="2861640" cy="1805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 lnSpcReduction="9999"/>
          </a:bodyPr>
          <a:p>
            <a:pPr defTabSz="914400">
              <a:lnSpc>
                <a:spcPct val="100000"/>
              </a:lnSpc>
            </a:pPr>
            <a:r>
              <a:rPr lang="en-US" sz="1040" b="0" u="none" strike="noStrike">
                <a:solidFill>
                  <a:srgbClr val="111827"/>
                </a:solidFill>
                <a:effectLst/>
                <a:uFillTx/>
                <a:latin typeface="Aptos"/>
              </a:rPr>
              <a:t>Example: Try connecting to </a:t>
            </a:r>
            <a:r>
              <a:rPr lang="en-GB" sz="105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10.24.4.20:5000 on your compute/mobile device over HTTP. Let one person to try and make an “auto dispense” from tank A. Observe: 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lang="en-US" sz="104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Now let someone else to try and make a “manual dispense” from tank B. Observe the tank levels:</a:t>
            </a:r>
            <a:endParaRPr lang="en-US" sz="104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n-US" sz="104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lang="en-US" sz="104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Keep this pace until you see the low tank notification. Let someone press the refill button and observe the tank’s level inside the GUI. Check the corresponding MQTT topics.</a:t>
            </a:r>
            <a:endParaRPr lang="en-US" sz="104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8" name="TextBox 41"/>
          <p:cNvSpPr/>
          <p:nvPr/>
        </p:nvSpPr>
        <p:spPr>
          <a:xfrm>
            <a:off x="8868960" y="6125400"/>
            <a:ext cx="2928600" cy="553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000" b="0" u="none" strike="noStrike">
                <a:solidFill>
                  <a:schemeClr val="lt1">
                    <a:lumMod val="85000"/>
                  </a:schemeClr>
                </a:solidFill>
                <a:effectLst/>
                <a:uFillTx/>
                <a:latin typeface="Aptos"/>
              </a:rPr>
              <a:t>*please make sure you are taking part in the demo alongside the presenters for clear instructions. The GUI can not handle multiple users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29" name="Picture 43"/>
          <p:cNvPicPr/>
          <p:nvPr/>
        </p:nvPicPr>
        <p:blipFill>
          <a:blip r:embed="rId2"/>
          <a:stretch/>
        </p:blipFill>
        <p:spPr>
          <a:xfrm>
            <a:off x="7486200" y="824040"/>
            <a:ext cx="1404000" cy="93600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30" name=""/>
          <p:cNvPicPr/>
          <p:nvPr/>
        </p:nvPicPr>
        <p:blipFill>
          <a:blip r:embed="rId3"/>
          <a:stretch/>
        </p:blipFill>
        <p:spPr>
          <a:xfrm>
            <a:off x="66240" y="4308840"/>
            <a:ext cx="2788560" cy="140616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31" name=""/>
          <p:cNvPicPr/>
          <p:nvPr/>
        </p:nvPicPr>
        <p:blipFill>
          <a:blip r:embed="rId4"/>
          <a:stretch/>
        </p:blipFill>
        <p:spPr>
          <a:xfrm>
            <a:off x="883440" y="5532840"/>
            <a:ext cx="2774160" cy="132516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32" name=""/>
          <p:cNvPicPr/>
          <p:nvPr/>
        </p:nvPicPr>
        <p:blipFill>
          <a:blip r:embed="rId5"/>
          <a:stretch/>
        </p:blipFill>
        <p:spPr>
          <a:xfrm>
            <a:off x="1887840" y="5257800"/>
            <a:ext cx="1541160" cy="45180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ptos Display" pitchFamily="0" charset="1"/>
        <a:ea typeface=""/>
        <a:cs typeface=""/>
      </a:majorFont>
      <a:minorFont>
        <a:latin typeface="Aptos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lumMod val="110000"/>
                <a:tint val="67000"/>
              </a:schemeClr>
            </a:gs>
            <a:gs pos="50000">
              <a:schemeClr val="phClr">
                <a:lumMod val="105000"/>
                <a:tint val="73000"/>
              </a:schemeClr>
            </a:gs>
            <a:gs pos="100000">
              <a:schemeClr val="phClr">
                <a:lumMod val="105000"/>
                <a:tint val="81000"/>
              </a:schemeClr>
            </a:gs>
          </a:gsLst>
          <a:lin ang="5400000" scaled="0"/>
          <a:tileRect l="0" t="0" r="0" b="0"/>
        </a:gradFill>
        <a:gradFill>
          <a:gsLst>
            <a:gs pos="0">
              <a:schemeClr val="phClr">
                <a:lumMod val="102000"/>
                <a:tint val="94000"/>
              </a:schemeClr>
            </a:gs>
            <a:gs pos="50000">
              <a:schemeClr val="phClr">
                <a:lumMod val="100000"/>
                <a:shade val="100000"/>
              </a:schemeClr>
            </a:gs>
            <a:gs pos="100000">
              <a:schemeClr val="phClr">
                <a:lumMod val="99000"/>
                <a:shade val="78000"/>
              </a:schemeClr>
            </a:gs>
          </a:gsLst>
          <a:lin ang="5400000" scaled="0"/>
          <a:tileRect l="0" t="0" r="0" b="0"/>
        </a:gradFill>
      </a:fillStyleLst>
      <a:lnStyleLst>
        <a:ln w="6350" cap="flat" cmpd="sng" algn="ctr">
          <a:prstDash val="solid"/>
          <a:miter lim="800000"/>
        </a:ln>
        <a:ln w="12700" cap="flat" cmpd="sng" algn="ctr">
          <a:prstDash val="solid"/>
          <a:miter lim="800000"/>
        </a:ln>
        <a:ln w="19050" cap="flat" cmpd="sng" algn="ctr"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</a:schemeClr>
            </a:gs>
            <a:gs pos="50000">
              <a:schemeClr val="phClr">
                <a:tint val="98000"/>
                <a:shade val="90000"/>
                <a:lumMod val="103000"/>
              </a:schemeClr>
            </a:gs>
            <a:gs pos="100000">
              <a:schemeClr val="phClr">
                <a:shade val="63000"/>
              </a:schemeClr>
            </a:gs>
          </a:gsLst>
          <a:lin ang="5400000" scaled="0"/>
          <a:tileRect l="0" t="0" r="0" b="0"/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LibreOffice">
      <a:dk1>
        <a:srgbClr val="000000"/>
      </a:dk1>
      <a:lt1>
        <a:srgbClr val="FFFFFF"/>
      </a:lt1>
      <a:dk2>
        <a:srgbClr val="000000"/>
      </a:dk2>
      <a:lt2>
        <a:srgbClr val="FFFFFF"/>
      </a:lt2>
      <a:accent1>
        <a:srgbClr val="18A303"/>
      </a:accent1>
      <a:accent2>
        <a:srgbClr val="0369A3"/>
      </a:accent2>
      <a:accent3>
        <a:srgbClr val="A33E03"/>
      </a:accent3>
      <a:accent4>
        <a:srgbClr val="8E03A3"/>
      </a:accent4>
      <a:accent5>
        <a:srgbClr val="C99C00"/>
      </a:accent5>
      <a:accent6>
        <a:srgbClr val="C9211E"/>
      </a:accent6>
      <a:hlink>
        <a:srgbClr val="0000EE"/>
      </a:hlink>
      <a:folHlink>
        <a:srgbClr val="551A8B"/>
      </a:folHlink>
    </a:clrScheme>
    <a:fontScheme name="Office">
      <a:majorFont>
        <a:latin typeface="Arial" pitchFamily="0" charset="1"/>
        <a:ea typeface="DejaVu Sans" pitchFamily="0" charset="1"/>
        <a:cs typeface="DejaVu Sans" pitchFamily="0" charset="1"/>
      </a:majorFont>
      <a:minorFont>
        <a:latin typeface="Arial" pitchFamily="0" charset="1"/>
        <a:ea typeface="DejaVu Sans" pitchFamily="0" charset="1"/>
        <a:cs typeface="DejaVu Sans" pitchFamily="0" charset="1"/>
      </a:minorFont>
    </a:fontScheme>
    <a:fmtScheme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 cmpd="sng" algn="ctr">
          <a:prstDash val="solid"/>
          <a:miter/>
        </a:ln>
        <a:ln w="6350" cap="flat" cmpd="sng" algn="ctr">
          <a:prstDash val="solid"/>
          <a:miter/>
        </a:ln>
        <a:ln w="63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75</TotalTime>
  <Application>LibreOffice/26.2.3.2$Linux_X86_64 LibreOffice_project/d4d5ed47b6084125f28d269a5650105d54dde034</Application>
  <AppVersion>15.0000</AppVersion>
  <Words>319</Words>
  <Paragraphs>25</Paragraphs>
  <Company>ECE490 IoT Systems</Company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2026-06-03T20:31:45Z</dcterms:created>
  <dc:creator>ECE490</dc:creator>
  <dc:description/>
  <dc:language>en-US</dc:language>
  <cp:lastModifiedBy/>
  <dcterms:modified xsi:type="dcterms:W3CDTF">2026-06-25T22:26:14Z</dcterms:modified>
  <cp:revision>8</cp:revision>
  <dc:subject>ECE490 Workshop One-Slide Display Template</dc:subject>
  <dc:title>ECE490 Workshop One-Slide Display Template</dc:title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Notes">
    <vt:i4>1</vt:i4>
  </property>
  <property fmtid="{D5CDD505-2E9C-101B-9397-08002B2CF9AE}" pid="3" name="PresentationFormat">
    <vt:lpwstr>Widescreen</vt:lpwstr>
  </property>
  <property fmtid="{D5CDD505-2E9C-101B-9397-08002B2CF9AE}" pid="4" name="Slides">
    <vt:i4>1</vt:i4>
  </property>
</Properties>
</file>