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0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6" d="100"/>
          <a:sy n="76" d="100"/>
        </p:scale>
        <p:origin x="4092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C67234-F8F4-C205-9784-B0229741F9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CD91A-B62E-96DA-1EF3-ECDF86FD63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7938-4B97-49A6-8C4A-870AB2F7FC32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9FC29-C12C-24FF-D371-1BB2FA6BCB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85D80-0CDA-6974-3500-BBA8201D45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786AF-41AE-4D11-8DFF-8894B1609E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230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69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15A45717-BA94-3E5C-E2E8-D89F45BF5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662" y="1119274"/>
            <a:ext cx="5865206" cy="439077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146304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</a:t>
            </a:r>
            <a:r>
              <a:rPr lang="en-GB" sz="2400" dirty="0">
                <a:solidFill>
                  <a:schemeClr val="bg1">
                    <a:lumMod val="85000"/>
                  </a:schemeClr>
                </a:solidFill>
              </a:rPr>
              <a:t>Smart Drinks Dispenser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1050" dirty="0" err="1">
                <a:solidFill>
                  <a:srgbClr val="D7E4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DrFresh</a:t>
            </a:r>
            <a:r>
              <a:rPr lang="en-US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en-US" sz="1050" dirty="0">
                <a:solidFill>
                  <a:srgbClr val="D7E4FF"/>
                </a:solidFill>
              </a:rPr>
              <a:t>  |  [</a:t>
            </a:r>
            <a:r>
              <a:rPr lang="el-GR" sz="1050" dirty="0" err="1">
                <a:solidFill>
                  <a:srgbClr val="D7E4FF"/>
                </a:solidFill>
              </a:rPr>
              <a:t>Ούζας</a:t>
            </a:r>
            <a:r>
              <a:rPr lang="el-GR" sz="1050" dirty="0">
                <a:solidFill>
                  <a:srgbClr val="D7E4FF"/>
                </a:solidFill>
              </a:rPr>
              <a:t> Βασίλειος, </a:t>
            </a:r>
            <a:r>
              <a:rPr lang="el-GR" sz="1050" dirty="0" err="1">
                <a:solidFill>
                  <a:srgbClr val="D7E4FF"/>
                </a:solidFill>
              </a:rPr>
              <a:t>Αλίνο</a:t>
            </a:r>
            <a:r>
              <a:rPr lang="el-GR" sz="1050" dirty="0">
                <a:solidFill>
                  <a:srgbClr val="D7E4FF"/>
                </a:solidFill>
              </a:rPr>
              <a:t> Παπαγιάννης</a:t>
            </a:r>
            <a:r>
              <a:rPr lang="en-US" sz="1050" dirty="0">
                <a:solidFill>
                  <a:srgbClr val="D7E4FF"/>
                </a:solidFill>
              </a:rPr>
              <a:t>]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75320" y="301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7E4FF"/>
                </a:solidFill>
              </a:rPr>
              <a:t>ECE490 IoT &amp; Apps Workshop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294" y="1078992"/>
            <a:ext cx="2880360" cy="5303520"/>
          </a:xfrm>
          <a:prstGeom prst="roundRect">
            <a:avLst>
              <a:gd name="adj" fmla="val 1905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2598" y="121615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</a:rPr>
              <a:t>Problem / Use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2890" y="1673352"/>
            <a:ext cx="2404872" cy="22153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20" dirty="0"/>
              <a:t>We all hate that feeling when we are at the office and we visit the water cooler/dispenser at the office only to find it barely or completely empty.</a:t>
            </a:r>
          </a:p>
          <a:p>
            <a:pPr marL="0" indent="0">
              <a:buNone/>
            </a:pPr>
            <a:endParaRPr lang="en-US" sz="112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20" dirty="0"/>
              <a:t>That’s why we at </a:t>
            </a:r>
            <a:r>
              <a:rPr lang="en-US" sz="1120" dirty="0" err="1"/>
              <a:t>DrFresh</a:t>
            </a:r>
            <a:r>
              <a:rPr lang="en-US" sz="1120" dirty="0"/>
              <a:t> came up with an </a:t>
            </a:r>
            <a:r>
              <a:rPr lang="en-US" sz="1120" dirty="0" err="1"/>
              <a:t>iot</a:t>
            </a:r>
            <a:r>
              <a:rPr lang="en-US" sz="1120" dirty="0"/>
              <a:t> system that help us monitor beverage dispensing, notifies in time when the reservoir levels are low and give us preference statistics </a:t>
            </a:r>
          </a:p>
          <a:p>
            <a:pPr marL="0" indent="0">
              <a:buNone/>
            </a:pPr>
            <a:endParaRPr lang="en-US" sz="112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58902" y="4133088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FED"/>
                </a:solidFill>
              </a:rPr>
              <a:t>Key users / environment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8902" y="443484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/>
              <a:t>A perfect solution for work spaces, schools</a:t>
            </a:r>
            <a:r>
              <a:rPr lang="el-GR" sz="1000" dirty="0"/>
              <a:t>,</a:t>
            </a:r>
            <a:r>
              <a:rPr lang="en-US" sz="1000" dirty="0"/>
              <a:t> offices</a:t>
            </a:r>
            <a:r>
              <a:rPr lang="el-GR" sz="1000" dirty="0"/>
              <a:t> </a:t>
            </a:r>
            <a:r>
              <a:rPr lang="en-US" sz="1000" dirty="0"/>
              <a:t>and small businesses</a:t>
            </a:r>
          </a:p>
        </p:txBody>
      </p:sp>
      <p:sp>
        <p:nvSpPr>
          <p:cNvPr id="13" name="Text 11"/>
          <p:cNvSpPr/>
          <p:nvPr/>
        </p:nvSpPr>
        <p:spPr>
          <a:xfrm>
            <a:off x="3703320" y="832104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</a:rPr>
              <a:t>System Architecture / Data Flow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53612" y="5632704"/>
            <a:ext cx="4434840" cy="749808"/>
          </a:xfrm>
          <a:prstGeom prst="roundRect">
            <a:avLst>
              <a:gd name="adj" fmla="val 7317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05072" y="5671089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FED"/>
                </a:solidFill>
              </a:rPr>
              <a:t>Data path example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54668" y="5738727"/>
            <a:ext cx="4333783" cy="64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50" dirty="0">
                <a:solidFill>
                  <a:srgbClr val="111827"/>
                </a:solidFill>
              </a:rPr>
              <a:t>[Tank A volume drops below 0.3L] → [processing (on PI)] → [storage(</a:t>
            </a:r>
            <a:r>
              <a:rPr lang="en-US" sz="950" dirty="0" err="1">
                <a:solidFill>
                  <a:srgbClr val="111827"/>
                </a:solidFill>
              </a:rPr>
              <a:t>InfluxDB</a:t>
            </a:r>
            <a:r>
              <a:rPr lang="en-US" sz="950" dirty="0">
                <a:solidFill>
                  <a:srgbClr val="111827"/>
                </a:solidFill>
              </a:rPr>
              <a:t>)] → [notification on GUI/MQTT/GMAIL/Grafana visualization ] →[you can no longer dispense from A]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42832" y="955899"/>
            <a:ext cx="3191256" cy="2359152"/>
          </a:xfrm>
          <a:prstGeom prst="roundRect">
            <a:avLst>
              <a:gd name="adj" fmla="val 2400"/>
            </a:avLst>
          </a:prstGeom>
          <a:solidFill>
            <a:srgbClr val="F6F8F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07424" y="1102203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</a:rPr>
              <a:t>Main Components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07424" y="1522827"/>
            <a:ext cx="28620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11827"/>
                </a:solidFill>
              </a:rPr>
              <a:t>Hardware: [RPi / double 6-12V pumps / 5V active buzzer / 12V dual relay module]</a:t>
            </a:r>
            <a:endParaRPr lang="el-GR" sz="104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11827"/>
                </a:solidFill>
              </a:rPr>
              <a:t>Software: [Python / HTML/ CSS/ JavaScript]</a:t>
            </a:r>
            <a:endParaRPr lang="en-US" sz="1040" dirty="0"/>
          </a:p>
          <a:p>
            <a:r>
              <a:rPr lang="en-US" sz="1040" dirty="0">
                <a:solidFill>
                  <a:srgbClr val="111827"/>
                </a:solidFill>
              </a:rPr>
              <a:t>Protocols: [MQTT / HTTP / NGSI-LD]</a:t>
            </a:r>
            <a:endParaRPr lang="en-US" sz="1040" dirty="0"/>
          </a:p>
          <a:p>
            <a:r>
              <a:rPr lang="en-US" sz="1040" dirty="0">
                <a:solidFill>
                  <a:srgbClr val="111827"/>
                </a:solidFill>
              </a:rPr>
              <a:t>Storage: [SQLite / </a:t>
            </a:r>
            <a:r>
              <a:rPr lang="en-US" sz="1040" dirty="0" err="1">
                <a:solidFill>
                  <a:srgbClr val="111827"/>
                </a:solidFill>
              </a:rPr>
              <a:t>InfluxDB</a:t>
            </a:r>
            <a:r>
              <a:rPr lang="en-US" sz="1040" dirty="0">
                <a:solidFill>
                  <a:srgbClr val="111827"/>
                </a:solidFill>
              </a:rPr>
              <a:t>]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8737854" y="3511174"/>
            <a:ext cx="3191256" cy="2670048"/>
          </a:xfrm>
          <a:prstGeom prst="roundRect">
            <a:avLst>
              <a:gd name="adj" fmla="val 2857"/>
            </a:avLst>
          </a:prstGeom>
          <a:solidFill>
            <a:srgbClr val="FFF9E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42832" y="371246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</a:rPr>
              <a:t>Demo Scenario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42832" y="4123943"/>
            <a:ext cx="2862072" cy="18054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40" dirty="0">
                <a:solidFill>
                  <a:srgbClr val="111827"/>
                </a:solidFill>
              </a:rPr>
              <a:t>Example: Try connecting to </a:t>
            </a:r>
            <a:r>
              <a:rPr lang="en-GB" sz="1050" dirty="0"/>
              <a:t>10.24.4.20:5000 on your compute/mobile device over HTTP. Let one person to try and make an “auto dispense” from tank A. Observe: </a:t>
            </a:r>
          </a:p>
          <a:p>
            <a:r>
              <a:rPr lang="en-US" sz="1040" dirty="0"/>
              <a:t>Now let someone else to try and make a “manual dispense” from tank B. Observe the tank levels:</a:t>
            </a:r>
          </a:p>
          <a:p>
            <a:endParaRPr lang="en-US" sz="1040" dirty="0"/>
          </a:p>
          <a:p>
            <a:r>
              <a:rPr lang="en-US" sz="1040" dirty="0"/>
              <a:t>Keep this pace until you see the low tank notification. Let someone press the refill button and observe the tank’s level inside the GUI. Check the corresponding MQTT topics.</a:t>
            </a:r>
            <a:endParaRPr lang="en-GB" sz="105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6C8606-5DD4-6929-7067-AAB83EE3BDC3}"/>
              </a:ext>
            </a:extLst>
          </p:cNvPr>
          <p:cNvSpPr txBox="1"/>
          <p:nvPr/>
        </p:nvSpPr>
        <p:spPr>
          <a:xfrm>
            <a:off x="8868964" y="6125511"/>
            <a:ext cx="2929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*please make sure you are taking part in the demo alongside the presenters for clear instructions. The GUI can not handle multiple users</a:t>
            </a:r>
            <a:endParaRPr lang="en-GB" sz="10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B217D0C-BE06-BBA9-D405-EDC18902C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229" y="823970"/>
            <a:ext cx="1404445" cy="9362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319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ECE490 IoT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ECE490 Workshop One-Slide Display Template</dc:title>
  <dc:subject>ECE490 Workshop One-Slide Display Template</dc:subject>
  <dc:creator>ECE490</dc:creator>
  <cp:lastModifiedBy>OUZAS VASILEIOS</cp:lastModifiedBy>
  <cp:revision>7</cp:revision>
  <dcterms:created xsi:type="dcterms:W3CDTF">2026-06-03T20:31:45Z</dcterms:created>
  <dcterms:modified xsi:type="dcterms:W3CDTF">2026-06-22T19:09:11Z</dcterms:modified>
</cp:coreProperties>
</file>